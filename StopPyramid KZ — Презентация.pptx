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embeddedFontLst>
    <p:embeddedFont>
      <p:font typeface="Onest"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Бастау: біз үкім шығармаймыз, белгілерді көрсетеміз. Команда атауын мұнда қосыңыз.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WhatsApp және Telegram топтарында ұйымдастырушылар Kaspi арқылы жеке картаға салым сұрайды. Адам модератор барлығын оқып үлгермейді.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Төрт қадамды бір сөйлеммен айт. Соңғы жолды міндетті түрде оқы: бұл жюри критерийіндегі «белгілер, үкім емес» талабы.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Демода анализатор қойындысында осы мысалдарды тікелей көрсет. Әр белгі түспен және пайызбен жарқырайды.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Демо: Граф қойындысы және Скриншот пен эфир қойындысы. OCR демода дайын мәтінмен жұмыс істейді, мұны жасырма.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Бұл сандар қолданбадағы Метрикалар қойындысынан алынған, шек 60%. Шек 50%-да толық жүйенің FPR-ы 19% болады, мұны жасырма. Қолдан белгіленген нақты таңдамада қайта есепте.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Соңында: жүйе жұмыс істейтін прототип және нақты жоспар. Әділ айт: деректер синтетикалық, келесі қадам нақты таңдама.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Қорытынды: үш сөйлем. Содан кейін сұрақтарға өт. Команда атауын слайдқа қосуды ұмытпа.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1243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7440"/>
            <a:ext cx="10566400" cy="1041400"/>
          </a:xfrm>
          <a:prstGeom prst="rect">
            <a:avLst/>
          </a:prstGeom>
          <a:noFill/>
          <a:ln/>
        </p:spPr>
        <p:txBody>
          <a:bodyPr wrap="square" lIns="0" tIns="0" rIns="0" bIns="0" rtlCol="0" anchor="t"/>
          <a:lstStyle>
            <a:lvl1pPr algn="l" indent="0" marL="0">
              <a:lnSpc>
                <a:spcPct val="110000"/>
              </a:lnSpc>
              <a:buNone/>
              <a:defRPr lang="en-US" sz="8200" dirty="0">
                <a:solidFill>
                  <a:srgbClr val="E6EEF7"/>
                </a:solidFill>
                <a:latin typeface="Onest" pitchFamily="34" charset="0"/>
                <a:ea typeface="Onest" pitchFamily="34" charset="-122"/>
                <a:cs typeface="Onest" pitchFamily="34" charset="-120"/>
              </a:defRPr>
            </a:lvl1pPr>
          </a:lstStyle>
          <a:p>
            <a:pPr algn="l" indent="0" marL="0">
              <a:lnSpc>
                <a:spcPct val="110000"/>
              </a:lnSpc>
              <a:buNone/>
            </a:pPr>
            <a:endParaRPr lang="en-US" sz="8200" dirty="0"/>
          </a:p>
        </p:txBody>
      </p:sp>
      <p:sp>
        <p:nvSpPr>
          <p:cNvPr id="3" name="Text Placeholder 2"/>
          <p:cNvSpPr/>
          <p:nvPr>
            <p:ph idx="101" type="body"/>
          </p:nvPr>
        </p:nvSpPr>
        <p:spPr>
          <a:xfrm>
            <a:off x="812800" y="2453640"/>
            <a:ext cx="10566400" cy="3591560"/>
          </a:xfrm>
          <a:prstGeom prst="rect">
            <a:avLst/>
          </a:prstGeom>
          <a:noFill/>
          <a:ln/>
        </p:spPr>
        <p:txBody>
          <a:bodyPr wrap="square" lIns="0" tIns="0" rIns="0" bIns="0" rtlCol="0" anchor="t"/>
          <a:lstStyle>
            <a:lvl1pPr algn="l" indent="0" marL="0">
              <a:lnSpc>
                <a:spcPct val="140000"/>
              </a:lnSpc>
              <a:buNone/>
              <a:defRPr lang="en-US" sz="1600" dirty="0">
                <a:solidFill>
                  <a:srgbClr val="E6EEF7"/>
                </a:solidFill>
                <a:latin typeface="Onest" pitchFamily="34" charset="0"/>
                <a:ea typeface="Onest" pitchFamily="34" charset="-122"/>
                <a:cs typeface="Ones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243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7440"/>
            <a:ext cx="10566400" cy="1041400"/>
          </a:xfrm>
          <a:prstGeom prst="rect">
            <a:avLst/>
          </a:prstGeom>
          <a:noFill/>
          <a:ln/>
        </p:spPr>
        <p:txBody>
          <a:bodyPr wrap="square" lIns="0" tIns="0" rIns="0" bIns="0" rtlCol="0" anchor="t"/>
          <a:lstStyle>
            <a:lvl1pPr algn="l" indent="0" marL="0">
              <a:lnSpc>
                <a:spcPct val="110000"/>
              </a:lnSpc>
              <a:buNone/>
              <a:defRPr lang="en-US" sz="8200" dirty="0">
                <a:solidFill>
                  <a:srgbClr val="E6EEF7"/>
                </a:solidFill>
                <a:latin typeface="Onest" pitchFamily="34" charset="0"/>
                <a:ea typeface="Onest" pitchFamily="34" charset="-122"/>
                <a:cs typeface="Onest" pitchFamily="34" charset="-120"/>
              </a:defRPr>
            </a:lvl1pPr>
          </a:lstStyle>
          <a:p>
            <a:pPr algn="l" indent="0" marL="0">
              <a:lnSpc>
                <a:spcPct val="110000"/>
              </a:lnSpc>
              <a:buNone/>
            </a:pPr>
            <a:endParaRPr lang="en-US" sz="8200" dirty="0"/>
          </a:p>
        </p:txBody>
      </p:sp>
      <p:sp>
        <p:nvSpPr>
          <p:cNvPr id="3" name="Text Placeholder 2"/>
          <p:cNvSpPr/>
          <p:nvPr>
            <p:ph idx="101" type="body"/>
          </p:nvPr>
        </p:nvSpPr>
        <p:spPr>
          <a:xfrm>
            <a:off x="812800" y="2453640"/>
            <a:ext cx="10566400" cy="3591560"/>
          </a:xfrm>
          <a:prstGeom prst="rect">
            <a:avLst/>
          </a:prstGeom>
          <a:noFill/>
          <a:ln/>
        </p:spPr>
        <p:txBody>
          <a:bodyPr wrap="square" lIns="0" tIns="0" rIns="0" bIns="0" rtlCol="0" anchor="t"/>
          <a:lstStyle>
            <a:lvl1pPr algn="l" indent="0" marL="0">
              <a:lnSpc>
                <a:spcPct val="140000"/>
              </a:lnSpc>
              <a:buNone/>
              <a:defRPr lang="en-US" sz="1600" dirty="0">
                <a:solidFill>
                  <a:srgbClr val="E6EEF7"/>
                </a:solidFill>
                <a:latin typeface="Onest" pitchFamily="34" charset="0"/>
                <a:ea typeface="Onest" pitchFamily="34" charset="-122"/>
                <a:cs typeface="Onest"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A"/>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B100"/>
                </a:solidFill>
                <a:latin typeface="Onest" pitchFamily="34" charset="0"/>
                <a:ea typeface="Onest" pitchFamily="34" charset="-122"/>
                <a:cs typeface="Onest" pitchFamily="34" charset="-120"/>
              </a:rPr>
              <a:t>SafeNet KZ · Хакатон · 3-трек «Стоп-пирамида»</a:t>
            </a:r>
            <a:endParaRPr lang="en-US" sz="1600" dirty="0"/>
          </a:p>
        </p:txBody>
      </p:sp>
      <p:sp>
        <p:nvSpPr>
          <p:cNvPr id="3" name="Text 1"/>
          <p:cNvSpPr/>
          <p:nvPr>
            <p:ph type="title"/>
          </p:nvPr>
        </p:nvSpPr>
        <p:spPr>
          <a:xfrm>
            <a:off x="812800" y="1402080"/>
            <a:ext cx="10883392" cy="1092200"/>
          </a:xfrm>
          <a:prstGeom prst="rect">
            <a:avLst/>
          </a:prstGeom>
          <a:noFill/>
          <a:ln/>
        </p:spPr>
        <p:txBody>
          <a:bodyPr wrap="square" lIns="0" tIns="0" rIns="0" bIns="0" rtlCol="0" anchor="t">
            <a:normAutofit/>
          </a:bodyPr>
          <a:lstStyle/>
          <a:p>
            <a:pPr algn="l" indent="0" marL="0">
              <a:lnSpc>
                <a:spcPts val="8400"/>
              </a:lnSpc>
              <a:buNone/>
            </a:pPr>
            <a:r>
              <a:rPr lang="en-US" sz="8400" b="1" i="0" spc="-150" kern="0" dirty="0">
                <a:solidFill>
                  <a:srgbClr val="E6EEF7"/>
                </a:solidFill>
                <a:latin typeface="Onest" pitchFamily="34" charset="0"/>
                <a:ea typeface="Onest" pitchFamily="34" charset="-122"/>
                <a:cs typeface="Onest" pitchFamily="34" charset="-120"/>
              </a:rPr>
              <a:t>Stop</a:t>
            </a:r>
            <a:r>
              <a:rPr lang="en-US" sz="8400" b="1" i="0" spc="-150" kern="0" dirty="0">
                <a:solidFill>
                  <a:srgbClr val="1AA7C9"/>
                </a:solidFill>
                <a:latin typeface="Onest" pitchFamily="34" charset="0"/>
                <a:ea typeface="Onest" pitchFamily="34" charset="-122"/>
                <a:cs typeface="Onest" pitchFamily="34" charset="-120"/>
              </a:rPr>
              <a:t>Pyramid</a:t>
            </a:r>
            <a:r>
              <a:rPr lang="en-US" sz="8400" b="1" i="0" spc="-150" kern="0" dirty="0">
                <a:solidFill>
                  <a:srgbClr val="E6EEF7"/>
                </a:solidFill>
                <a:latin typeface="Onest" pitchFamily="34" charset="0"/>
                <a:ea typeface="Onest" pitchFamily="34" charset="-122"/>
                <a:cs typeface="Onest" pitchFamily="34" charset="-120"/>
              </a:rPr>
              <a:t> KZ</a:t>
            </a:r>
            <a:endParaRPr lang="en-US" sz="8400" dirty="0"/>
          </a:p>
        </p:txBody>
      </p:sp>
      <p:sp>
        <p:nvSpPr>
          <p:cNvPr id="4" name="Text 2"/>
          <p:cNvSpPr/>
          <p:nvPr/>
        </p:nvSpPr>
        <p:spPr>
          <a:xfrm>
            <a:off x="812800" y="277368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6EEF7"/>
                </a:solidFill>
                <a:latin typeface="Onest" pitchFamily="34" charset="0"/>
                <a:ea typeface="Onest" pitchFamily="34" charset="-122"/>
                <a:cs typeface="Onest" pitchFamily="34" charset="-120"/>
              </a:rPr>
              <a:t>Пирамидаларға қарсы цифрлық қалқан: қауіпті топтарды табады, себебін түсіндіреді, шешімді адамға қалдырады.</a:t>
            </a:r>
            <a:endParaRPr lang="en-US" sz="2200" dirty="0"/>
          </a:p>
        </p:txBody>
      </p:sp>
      <p:sp>
        <p:nvSpPr>
          <p:cNvPr id="5" name="Text 3"/>
          <p:cNvSpPr/>
          <p:nvPr/>
        </p:nvSpPr>
        <p:spPr>
          <a:xfrm>
            <a:off x="812800" y="623824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A2BA"/>
                </a:solidFill>
                <a:latin typeface="Onest" pitchFamily="34" charset="0"/>
                <a:ea typeface="Onest" pitchFamily="34" charset="-122"/>
                <a:cs typeface="Onest" pitchFamily="34" charset="-120"/>
              </a:rPr>
              <a:t>StopPyramid KZ · SafeNet KZ</a:t>
            </a:r>
            <a:endParaRPr lang="en-US" sz="1200" dirty="0"/>
          </a:p>
        </p:txBody>
      </p:sp>
      <p:sp>
        <p:nvSpPr>
          <p:cNvPr id="6" name="Text 4"/>
          <p:cNvSpPr/>
          <p:nvPr/>
        </p:nvSpPr>
        <p:spPr>
          <a:xfrm>
            <a:off x="10058400" y="623824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A2BA"/>
                </a:solidFill>
                <a:latin typeface="Onest" pitchFamily="34" charset="0"/>
                <a:ea typeface="Onest" pitchFamily="34" charset="-122"/>
                <a:cs typeface="Onest"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1243A"/>
                </a:solidFill>
                <a:latin typeface="Onest" pitchFamily="34" charset="0"/>
                <a:ea typeface="Onest" pitchFamily="34" charset="-122"/>
                <a:cs typeface="Onest" pitchFamily="34" charset="-120"/>
              </a:rPr>
              <a:t>Қолмен модерация ағынға жетпейді</a:t>
            </a:r>
            <a:endParaRPr lang="en-US" sz="3600" dirty="0"/>
          </a:p>
        </p:txBody>
      </p:sp>
      <p:sp>
        <p:nvSpPr>
          <p:cNvPr id="3" name="Shape 1"/>
          <p:cNvSpPr/>
          <p:nvPr/>
        </p:nvSpPr>
        <p:spPr>
          <a:xfrm>
            <a:off x="815975" y="1623695"/>
            <a:ext cx="3380264" cy="1659255"/>
          </a:xfrm>
          <a:prstGeom prst="roundRect">
            <a:avLst>
              <a:gd name="adj" fmla="val 5932"/>
            </a:avLst>
          </a:prstGeom>
          <a:solidFill>
            <a:srgbClr val="FFFFFF"/>
          </a:solidFill>
          <a:ln w="6350">
            <a:solidFill>
              <a:srgbClr val="D3DDE6"/>
            </a:solidFill>
            <a:prstDash val="solid"/>
          </a:ln>
        </p:spPr>
      </p:sp>
      <p:sp>
        <p:nvSpPr>
          <p:cNvPr id="4" name="Text 2"/>
          <p:cNvSpPr/>
          <p:nvPr/>
        </p:nvSpPr>
        <p:spPr>
          <a:xfrm>
            <a:off x="1071880" y="187960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243A"/>
                </a:solidFill>
                <a:latin typeface="Onest" pitchFamily="34" charset="0"/>
                <a:ea typeface="Onest" pitchFamily="34" charset="-122"/>
                <a:cs typeface="Onest" pitchFamily="34" charset="-120"/>
              </a:rPr>
              <a:t>Минуттар ішінде</a:t>
            </a:r>
            <a:endParaRPr lang="en-US" sz="1800" dirty="0"/>
          </a:p>
        </p:txBody>
      </p:sp>
      <p:sp>
        <p:nvSpPr>
          <p:cNvPr id="5" name="Text 3"/>
          <p:cNvSpPr/>
          <p:nvPr/>
        </p:nvSpPr>
        <p:spPr>
          <a:xfrm>
            <a:off x="1071880" y="2255520"/>
            <a:ext cx="2954507"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243A"/>
                </a:solidFill>
                <a:latin typeface="Onest" pitchFamily="34" charset="0"/>
                <a:ea typeface="Onest" pitchFamily="34" charset="-122"/>
                <a:cs typeface="Onest" pitchFamily="34" charset="-120"/>
              </a:rPr>
              <a:t>Жаңа топ ашылады, ескісі жабылады. Схема формасын үнемі өзгертеді.</a:t>
            </a:r>
            <a:endParaRPr lang="en-US" sz="1500" dirty="0"/>
          </a:p>
        </p:txBody>
      </p:sp>
      <p:sp>
        <p:nvSpPr>
          <p:cNvPr id="6" name="Shape 4"/>
          <p:cNvSpPr/>
          <p:nvPr/>
        </p:nvSpPr>
        <p:spPr>
          <a:xfrm>
            <a:off x="4405789" y="1623695"/>
            <a:ext cx="3380343" cy="1659255"/>
          </a:xfrm>
          <a:prstGeom prst="roundRect">
            <a:avLst>
              <a:gd name="adj" fmla="val 5932"/>
            </a:avLst>
          </a:prstGeom>
          <a:solidFill>
            <a:srgbClr val="FFFFFF"/>
          </a:solidFill>
          <a:ln w="6350">
            <a:solidFill>
              <a:srgbClr val="D3DDE6"/>
            </a:solidFill>
            <a:prstDash val="solid"/>
          </a:ln>
        </p:spPr>
      </p:sp>
      <p:sp>
        <p:nvSpPr>
          <p:cNvPr id="7" name="Text 5"/>
          <p:cNvSpPr/>
          <p:nvPr/>
        </p:nvSpPr>
        <p:spPr>
          <a:xfrm>
            <a:off x="4661694"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243A"/>
                </a:solidFill>
                <a:latin typeface="Onest" pitchFamily="34" charset="0"/>
                <a:ea typeface="Onest" pitchFamily="34" charset="-122"/>
                <a:cs typeface="Onest" pitchFamily="34" charset="-120"/>
              </a:rPr>
              <a:t>Тіл кедергісі</a:t>
            </a:r>
            <a:endParaRPr lang="en-US" sz="1800" dirty="0"/>
          </a:p>
        </p:txBody>
      </p:sp>
      <p:sp>
        <p:nvSpPr>
          <p:cNvPr id="8" name="Text 6"/>
          <p:cNvSpPr/>
          <p:nvPr/>
        </p:nvSpPr>
        <p:spPr>
          <a:xfrm>
            <a:off x="4661694" y="2255520"/>
            <a:ext cx="2954589"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243A"/>
                </a:solidFill>
                <a:latin typeface="Onest" pitchFamily="34" charset="0"/>
                <a:ea typeface="Onest" pitchFamily="34" charset="-122"/>
                <a:cs typeface="Onest" pitchFamily="34" charset="-120"/>
              </a:rPr>
              <a:t>Орысша, қазақша, транслит, сленг және мәтіннің орнына скриншот.</a:t>
            </a:r>
            <a:endParaRPr lang="en-US" sz="1500" dirty="0"/>
          </a:p>
        </p:txBody>
      </p:sp>
      <p:sp>
        <p:nvSpPr>
          <p:cNvPr id="9" name="Shape 7"/>
          <p:cNvSpPr/>
          <p:nvPr/>
        </p:nvSpPr>
        <p:spPr>
          <a:xfrm>
            <a:off x="7995682" y="1623695"/>
            <a:ext cx="3380343" cy="1659255"/>
          </a:xfrm>
          <a:prstGeom prst="roundRect">
            <a:avLst>
              <a:gd name="adj" fmla="val 5932"/>
            </a:avLst>
          </a:prstGeom>
          <a:solidFill>
            <a:srgbClr val="FFFFFF"/>
          </a:solidFill>
          <a:ln w="6350">
            <a:solidFill>
              <a:srgbClr val="D3DDE6"/>
            </a:solidFill>
            <a:prstDash val="solid"/>
          </a:ln>
        </p:spPr>
      </p:sp>
      <p:sp>
        <p:nvSpPr>
          <p:cNvPr id="10" name="Text 8"/>
          <p:cNvSpPr/>
          <p:nvPr/>
        </p:nvSpPr>
        <p:spPr>
          <a:xfrm>
            <a:off x="8251587"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243A"/>
                </a:solidFill>
                <a:latin typeface="Onest" pitchFamily="34" charset="0"/>
                <a:ea typeface="Onest" pitchFamily="34" charset="-122"/>
                <a:cs typeface="Onest" pitchFamily="34" charset="-120"/>
              </a:rPr>
              <a:t>Нақты қауіп</a:t>
            </a:r>
            <a:endParaRPr lang="en-US" sz="1800" dirty="0"/>
          </a:p>
        </p:txBody>
      </p:sp>
      <p:sp>
        <p:nvSpPr>
          <p:cNvPr id="11" name="Text 9"/>
          <p:cNvSpPr/>
          <p:nvPr/>
        </p:nvSpPr>
        <p:spPr>
          <a:xfrm>
            <a:off x="8251587" y="2255520"/>
            <a:ext cx="2954589"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243A"/>
                </a:solidFill>
                <a:latin typeface="Onest" pitchFamily="34" charset="0"/>
                <a:ea typeface="Onest" pitchFamily="34" charset="-122"/>
                <a:cs typeface="Onest" pitchFamily="34" charset="-120"/>
              </a:rPr>
              <a:t>Kaspi арқылы жеке картаға аударым және «5 000 тг → 10 000 тг» уәдесі.</a:t>
            </a:r>
            <a:endParaRPr lang="en-US" sz="1500" dirty="0"/>
          </a:p>
        </p:txBody>
      </p:sp>
      <p:sp>
        <p:nvSpPr>
          <p:cNvPr id="12" name="Text 10"/>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7088"/>
                </a:solidFill>
                <a:latin typeface="Onest" pitchFamily="34" charset="0"/>
                <a:ea typeface="Onest" pitchFamily="34" charset="-122"/>
                <a:cs typeface="Onest" pitchFamily="34" charset="-120"/>
              </a:rPr>
              <a:t>StopPyramid KZ · SafeNet KZ</a:t>
            </a:r>
            <a:endParaRPr lang="en-US" sz="1200" dirty="0"/>
          </a:p>
        </p:txBody>
      </p:sp>
      <p:sp>
        <p:nvSpPr>
          <p:cNvPr id="13" name="Text 11"/>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7088"/>
                </a:solidFill>
                <a:latin typeface="Onest" pitchFamily="34" charset="0"/>
                <a:ea typeface="Onest" pitchFamily="34" charset="-122"/>
                <a:cs typeface="Onest"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1243A"/>
                </a:solidFill>
                <a:latin typeface="Onest" pitchFamily="34" charset="0"/>
                <a:ea typeface="Onest" pitchFamily="34" charset="-122"/>
                <a:cs typeface="Onest" pitchFamily="34" charset="-120"/>
              </a:rPr>
              <a:t>Төрт қадамда тәуекел бағасы</a:t>
            </a:r>
            <a:endParaRPr lang="en-US" sz="3600" dirty="0"/>
          </a:p>
        </p:txBody>
      </p:sp>
      <p:sp>
        <p:nvSpPr>
          <p:cNvPr id="3" name="Shape 1"/>
          <p:cNvSpPr/>
          <p:nvPr/>
        </p:nvSpPr>
        <p:spPr>
          <a:xfrm>
            <a:off x="815975" y="1623695"/>
            <a:ext cx="2482850" cy="3030220"/>
          </a:xfrm>
          <a:prstGeom prst="roundRect">
            <a:avLst>
              <a:gd name="adj" fmla="val 3964"/>
            </a:avLst>
          </a:prstGeom>
          <a:solidFill>
            <a:srgbClr val="FFFFFF"/>
          </a:solidFill>
          <a:ln w="6350">
            <a:solidFill>
              <a:srgbClr val="D3DDE6"/>
            </a:solidFill>
            <a:prstDash val="solid"/>
          </a:ln>
        </p:spPr>
      </p:sp>
      <p:sp>
        <p:nvSpPr>
          <p:cNvPr id="4" name="Text 2"/>
          <p:cNvSpPr/>
          <p:nvPr/>
        </p:nvSpPr>
        <p:spPr>
          <a:xfrm>
            <a:off x="1071880" y="1879600"/>
            <a:ext cx="203017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B100"/>
                </a:solidFill>
                <a:latin typeface="Onest" pitchFamily="34" charset="0"/>
                <a:ea typeface="Onest" pitchFamily="34" charset="-122"/>
                <a:cs typeface="Onest" pitchFamily="34" charset="-120"/>
              </a:rPr>
              <a:t>1</a:t>
            </a:r>
            <a:endParaRPr lang="en-US" sz="2800" dirty="0"/>
          </a:p>
        </p:txBody>
      </p:sp>
      <p:sp>
        <p:nvSpPr>
          <p:cNvPr id="5" name="Text 3"/>
          <p:cNvSpPr/>
          <p:nvPr/>
        </p:nvSpPr>
        <p:spPr>
          <a:xfrm>
            <a:off x="1071880" y="2479041"/>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243A"/>
                </a:solidFill>
                <a:latin typeface="Onest" pitchFamily="34" charset="0"/>
                <a:ea typeface="Onest" pitchFamily="34" charset="-122"/>
                <a:cs typeface="Onest" pitchFamily="34" charset="-120"/>
              </a:rPr>
              <a:t>Нормализация</a:t>
            </a:r>
            <a:endParaRPr lang="en-US" sz="1800" dirty="0"/>
          </a:p>
        </p:txBody>
      </p:sp>
      <p:sp>
        <p:nvSpPr>
          <p:cNvPr id="6" name="Text 4"/>
          <p:cNvSpPr/>
          <p:nvPr/>
        </p:nvSpPr>
        <p:spPr>
          <a:xfrm>
            <a:off x="1071880" y="2854961"/>
            <a:ext cx="203017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243A"/>
                </a:solidFill>
                <a:latin typeface="Onest" pitchFamily="34" charset="0"/>
                <a:ea typeface="Onest" pitchFamily="34" charset="-122"/>
                <a:cs typeface="Onest" pitchFamily="34" charset="-120"/>
              </a:rPr>
              <a:t>Транслит, RU/KZ аралас мәтін.</a:t>
            </a:r>
            <a:endParaRPr lang="en-US" sz="1500" dirty="0"/>
          </a:p>
        </p:txBody>
      </p:sp>
      <p:sp>
        <p:nvSpPr>
          <p:cNvPr id="7" name="Shape 5"/>
          <p:cNvSpPr/>
          <p:nvPr/>
        </p:nvSpPr>
        <p:spPr>
          <a:xfrm>
            <a:off x="3508375" y="1623695"/>
            <a:ext cx="2482850" cy="3030220"/>
          </a:xfrm>
          <a:prstGeom prst="roundRect">
            <a:avLst>
              <a:gd name="adj" fmla="val 3964"/>
            </a:avLst>
          </a:prstGeom>
          <a:solidFill>
            <a:srgbClr val="FFFFFF"/>
          </a:solidFill>
          <a:ln w="6350">
            <a:solidFill>
              <a:srgbClr val="D3DDE6"/>
            </a:solidFill>
            <a:prstDash val="solid"/>
          </a:ln>
        </p:spPr>
      </p:sp>
      <p:sp>
        <p:nvSpPr>
          <p:cNvPr id="8" name="Text 6"/>
          <p:cNvSpPr/>
          <p:nvPr/>
        </p:nvSpPr>
        <p:spPr>
          <a:xfrm>
            <a:off x="3764280" y="1879600"/>
            <a:ext cx="203017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B100"/>
                </a:solidFill>
                <a:latin typeface="Onest" pitchFamily="34" charset="0"/>
                <a:ea typeface="Onest" pitchFamily="34" charset="-122"/>
                <a:cs typeface="Onest" pitchFamily="34" charset="-120"/>
              </a:rPr>
              <a:t>2</a:t>
            </a:r>
            <a:endParaRPr lang="en-US" sz="2800" dirty="0"/>
          </a:p>
        </p:txBody>
      </p:sp>
      <p:sp>
        <p:nvSpPr>
          <p:cNvPr id="9" name="Text 7"/>
          <p:cNvSpPr/>
          <p:nvPr/>
        </p:nvSpPr>
        <p:spPr>
          <a:xfrm>
            <a:off x="3764280" y="2479041"/>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243A"/>
                </a:solidFill>
                <a:latin typeface="Onest" pitchFamily="34" charset="0"/>
                <a:ea typeface="Onest" pitchFamily="34" charset="-122"/>
                <a:cs typeface="Onest" pitchFamily="34" charset="-120"/>
              </a:rPr>
              <a:t>Алты белгі тобы</a:t>
            </a:r>
            <a:endParaRPr lang="en-US" sz="1800" dirty="0"/>
          </a:p>
        </p:txBody>
      </p:sp>
      <p:sp>
        <p:nvSpPr>
          <p:cNvPr id="10" name="Text 8"/>
          <p:cNvSpPr/>
          <p:nvPr/>
        </p:nvSpPr>
        <p:spPr>
          <a:xfrm>
            <a:off x="3764280" y="2854961"/>
            <a:ext cx="2030171" cy="13112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243A"/>
                </a:solidFill>
                <a:latin typeface="Onest" pitchFamily="34" charset="0"/>
                <a:ea typeface="Onest" pitchFamily="34" charset="-122"/>
                <a:cs typeface="Onest" pitchFamily="34" charset="-120"/>
              </a:rPr>
              <a:t>Табыс уәдесі, Kaspi/карта, қысым, реферал, «төлемдер», кураторлар.</a:t>
            </a:r>
            <a:endParaRPr lang="en-US" sz="1500" dirty="0"/>
          </a:p>
        </p:txBody>
      </p:sp>
      <p:sp>
        <p:nvSpPr>
          <p:cNvPr id="11" name="Shape 9"/>
          <p:cNvSpPr/>
          <p:nvPr/>
        </p:nvSpPr>
        <p:spPr>
          <a:xfrm>
            <a:off x="6200775" y="1623695"/>
            <a:ext cx="2482850" cy="3030220"/>
          </a:xfrm>
          <a:prstGeom prst="roundRect">
            <a:avLst>
              <a:gd name="adj" fmla="val 3964"/>
            </a:avLst>
          </a:prstGeom>
          <a:solidFill>
            <a:srgbClr val="FFFFFF"/>
          </a:solidFill>
          <a:ln w="6350">
            <a:solidFill>
              <a:srgbClr val="D3DDE6"/>
            </a:solidFill>
            <a:prstDash val="solid"/>
          </a:ln>
        </p:spPr>
      </p:sp>
      <p:sp>
        <p:nvSpPr>
          <p:cNvPr id="12" name="Text 10"/>
          <p:cNvSpPr/>
          <p:nvPr/>
        </p:nvSpPr>
        <p:spPr>
          <a:xfrm>
            <a:off x="6456680" y="1879600"/>
            <a:ext cx="203017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B100"/>
                </a:solidFill>
                <a:latin typeface="Onest" pitchFamily="34" charset="0"/>
                <a:ea typeface="Onest" pitchFamily="34" charset="-122"/>
                <a:cs typeface="Onest" pitchFamily="34" charset="-120"/>
              </a:rPr>
              <a:t>3</a:t>
            </a:r>
            <a:endParaRPr lang="en-US" sz="2800" dirty="0"/>
          </a:p>
        </p:txBody>
      </p:sp>
      <p:sp>
        <p:nvSpPr>
          <p:cNvPr id="13" name="Text 11"/>
          <p:cNvSpPr/>
          <p:nvPr/>
        </p:nvSpPr>
        <p:spPr>
          <a:xfrm>
            <a:off x="6456680" y="2479041"/>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243A"/>
                </a:solidFill>
                <a:latin typeface="Onest" pitchFamily="34" charset="0"/>
                <a:ea typeface="Onest" pitchFamily="34" charset="-122"/>
                <a:cs typeface="Onest" pitchFamily="34" charset="-120"/>
              </a:rPr>
              <a:t>Скоринг</a:t>
            </a:r>
            <a:endParaRPr lang="en-US" sz="1800" dirty="0"/>
          </a:p>
        </p:txBody>
      </p:sp>
      <p:sp>
        <p:nvSpPr>
          <p:cNvPr id="14" name="Text 12"/>
          <p:cNvSpPr/>
          <p:nvPr/>
        </p:nvSpPr>
        <p:spPr>
          <a:xfrm>
            <a:off x="6456680" y="2854961"/>
            <a:ext cx="2030171" cy="15684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243A"/>
                </a:solidFill>
                <a:latin typeface="Onest" pitchFamily="34" charset="0"/>
                <a:ea typeface="Onest" pitchFamily="34" charset="-122"/>
                <a:cs typeface="Onest" pitchFamily="34" charset="-120"/>
              </a:rPr>
              <a:t>Noisy-OR. «Пайда + карта» үйлесімі кемінде 80%. Лицензия мен ескерту қауіпті азайтады.</a:t>
            </a:r>
            <a:endParaRPr lang="en-US" sz="1500" dirty="0"/>
          </a:p>
        </p:txBody>
      </p:sp>
      <p:sp>
        <p:nvSpPr>
          <p:cNvPr id="15" name="Shape 13"/>
          <p:cNvSpPr/>
          <p:nvPr/>
        </p:nvSpPr>
        <p:spPr>
          <a:xfrm>
            <a:off x="8893175" y="1623695"/>
            <a:ext cx="2482850" cy="3030220"/>
          </a:xfrm>
          <a:prstGeom prst="roundRect">
            <a:avLst>
              <a:gd name="adj" fmla="val 3964"/>
            </a:avLst>
          </a:prstGeom>
          <a:solidFill>
            <a:srgbClr val="FFFFFF"/>
          </a:solidFill>
          <a:ln w="6350">
            <a:solidFill>
              <a:srgbClr val="D3DDE6"/>
            </a:solidFill>
            <a:prstDash val="solid"/>
          </a:ln>
        </p:spPr>
      </p:sp>
      <p:sp>
        <p:nvSpPr>
          <p:cNvPr id="16" name="Text 14"/>
          <p:cNvSpPr/>
          <p:nvPr/>
        </p:nvSpPr>
        <p:spPr>
          <a:xfrm>
            <a:off x="9149080" y="1879600"/>
            <a:ext cx="203017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B100"/>
                </a:solidFill>
                <a:latin typeface="Onest" pitchFamily="34" charset="0"/>
                <a:ea typeface="Onest" pitchFamily="34" charset="-122"/>
                <a:cs typeface="Onest" pitchFamily="34" charset="-120"/>
              </a:rPr>
              <a:t>4</a:t>
            </a:r>
            <a:endParaRPr lang="en-US" sz="2800" dirty="0"/>
          </a:p>
        </p:txBody>
      </p:sp>
      <p:sp>
        <p:nvSpPr>
          <p:cNvPr id="17" name="Text 15"/>
          <p:cNvSpPr/>
          <p:nvPr/>
        </p:nvSpPr>
        <p:spPr>
          <a:xfrm>
            <a:off x="9149080" y="2479041"/>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243A"/>
                </a:solidFill>
                <a:latin typeface="Onest" pitchFamily="34" charset="0"/>
                <a:ea typeface="Onest" pitchFamily="34" charset="-122"/>
                <a:cs typeface="Onest" pitchFamily="34" charset="-120"/>
              </a:rPr>
              <a:t>Топ және граф</a:t>
            </a:r>
            <a:endParaRPr lang="en-US" sz="1800" dirty="0"/>
          </a:p>
        </p:txBody>
      </p:sp>
      <p:sp>
        <p:nvSpPr>
          <p:cNvPr id="18" name="Text 16"/>
          <p:cNvSpPr/>
          <p:nvPr/>
        </p:nvSpPr>
        <p:spPr>
          <a:xfrm>
            <a:off x="9149080" y="2854961"/>
            <a:ext cx="2030171"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243A"/>
                </a:solidFill>
                <a:latin typeface="Onest" pitchFamily="34" charset="0"/>
                <a:ea typeface="Onest" pitchFamily="34" charset="-122"/>
                <a:cs typeface="Onest" pitchFamily="34" charset="-120"/>
              </a:rPr>
              <a:t>Шаблонды копипаст, ортақ карталар, аналитик дашборды.</a:t>
            </a:r>
            <a:endParaRPr lang="en-US" sz="1500" dirty="0"/>
          </a:p>
        </p:txBody>
      </p:sp>
      <p:sp>
        <p:nvSpPr>
          <p:cNvPr id="19" name="Text 17"/>
          <p:cNvSpPr/>
          <p:nvPr/>
        </p:nvSpPr>
        <p:spPr>
          <a:xfrm>
            <a:off x="812800" y="4961891"/>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8A6A00"/>
                </a:solidFill>
                <a:latin typeface="Onest" pitchFamily="34" charset="0"/>
                <a:ea typeface="Onest" pitchFamily="34" charset="-122"/>
                <a:cs typeface="Onest" pitchFamily="34" charset="-120"/>
              </a:rPr>
              <a:t>Жүйе үкім шығармайды: белгілерді көрсетеді, шешімді маман қабылдайды.</a:t>
            </a:r>
            <a:endParaRPr lang="en-US" sz="1800" dirty="0"/>
          </a:p>
        </p:txBody>
      </p:sp>
      <p:sp>
        <p:nvSpPr>
          <p:cNvPr id="20" name="Text 18"/>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7088"/>
                </a:solidFill>
                <a:latin typeface="Onest" pitchFamily="34" charset="0"/>
                <a:ea typeface="Onest" pitchFamily="34" charset="-122"/>
                <a:cs typeface="Onest" pitchFamily="34" charset="-120"/>
              </a:rPr>
              <a:t>StopPyramid KZ · SafeNet KZ</a:t>
            </a:r>
            <a:endParaRPr lang="en-US" sz="1200" dirty="0"/>
          </a:p>
        </p:txBody>
      </p:sp>
      <p:sp>
        <p:nvSpPr>
          <p:cNvPr id="21" name="Text 19"/>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7088"/>
                </a:solidFill>
                <a:latin typeface="Onest" pitchFamily="34" charset="0"/>
                <a:ea typeface="Onest" pitchFamily="34" charset="-122"/>
                <a:cs typeface="Onest"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1243A"/>
                </a:solidFill>
                <a:latin typeface="Onest" pitchFamily="34" charset="0"/>
                <a:ea typeface="Onest" pitchFamily="34" charset="-122"/>
                <a:cs typeface="Onest" pitchFamily="34" charset="-120"/>
              </a:rPr>
              <a:t>Әр балл түсіндіріледі, қалыпты хабарлама өтеді</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33601"/>
          <a:ext cx="10556240" cy="3566160"/>
        </p:xfrm>
        <a:graphic>
          <a:graphicData uri="http://schemas.openxmlformats.org/drawingml/2006/table">
            <a:tbl>
              <a:tblPr/>
              <a:tblGrid>
                <a:gridCol w="4807792"/>
                <a:gridCol w="3553586"/>
                <a:gridCol w="2194862"/>
              </a:tblGrid>
              <a:tr h="505460">
                <a:tc>
                  <a:txBody>
                    <a:bodyPr/>
                    <a:lstStyle/>
                    <a:p>
                      <a:pPr indent="0" marL="0">
                        <a:lnSpc>
                          <a:spcPts val="2100"/>
                        </a:lnSpc>
                        <a:buNone/>
                      </a:pPr>
                      <a:r>
                        <a:rPr lang="en-US" sz="1500" b="1" dirty="0">
                          <a:solidFill>
                            <a:srgbClr val="EEF3F6"/>
                          </a:solidFill>
                          <a:latin typeface="Onest" pitchFamily="34" charset="0"/>
                          <a:ea typeface="Onest" pitchFamily="34" charset="-122"/>
                          <a:cs typeface="Onest" pitchFamily="34" charset="-120"/>
                        </a:rPr>
                        <a:t>Хабарлама</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1243A"/>
                    </a:solidFill>
                  </a:tcPr>
                </a:tc>
                <a:tc>
                  <a:txBody>
                    <a:bodyPr/>
                    <a:lstStyle/>
                    <a:p>
                      <a:pPr indent="0" marL="0">
                        <a:lnSpc>
                          <a:spcPts val="2100"/>
                        </a:lnSpc>
                        <a:buNone/>
                      </a:pPr>
                      <a:r>
                        <a:rPr lang="en-US" sz="1500" b="1" dirty="0">
                          <a:solidFill>
                            <a:srgbClr val="EEF3F6"/>
                          </a:solidFill>
                          <a:latin typeface="Onest" pitchFamily="34" charset="0"/>
                          <a:ea typeface="Onest" pitchFamily="34" charset="-122"/>
                          <a:cs typeface="Onest" pitchFamily="34" charset="-120"/>
                        </a:rPr>
                        <a:t>Белгілер</a:t>
                      </a:r>
                      <a:endParaRPr lang="en-US" sz="1500" dirty="0">
                        <a:latin typeface="Onest" charset="0"/>
                        <a:ea typeface="Onest" charset="0"/>
                        <a:cs typeface="Onest" charset="0"/>
                      </a:endParaRPr>
                    </a:p>
                  </a:txBody>
                  <a:tcPr marL="127000" marR="127000" marT="114300" marB="114300" anchor="t">
                    <a:lnL w="12700" cap="flat" cmpd="sng" algn="ctr">
                      <a:solidFill>
                        <a:srgbClr val="122031"/>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1243A"/>
                    </a:solidFill>
                  </a:tcPr>
                </a:tc>
                <a:tc>
                  <a:txBody>
                    <a:bodyPr/>
                    <a:lstStyle/>
                    <a:p>
                      <a:pPr indent="0" marL="0">
                        <a:lnSpc>
                          <a:spcPts val="2100"/>
                        </a:lnSpc>
                        <a:buNone/>
                      </a:pPr>
                      <a:r>
                        <a:rPr lang="en-US" sz="1500" b="1" dirty="0">
                          <a:solidFill>
                            <a:srgbClr val="EEF3F6"/>
                          </a:solidFill>
                          <a:latin typeface="Onest" pitchFamily="34" charset="0"/>
                          <a:ea typeface="Onest" pitchFamily="34" charset="-122"/>
                          <a:cs typeface="Onest" pitchFamily="34" charset="-120"/>
                        </a:rPr>
                        <a:t>Қауіп</a:t>
                      </a:r>
                      <a:endParaRPr lang="en-US" sz="1500" dirty="0">
                        <a:latin typeface="Onest" charset="0"/>
                        <a:ea typeface="Onest" charset="0"/>
                        <a:cs typeface="Onest" charset="0"/>
                      </a:endParaRPr>
                    </a:p>
                  </a:txBody>
                  <a:tcPr marL="127000" marR="127000" marT="114300" marB="114300" anchor="t">
                    <a:lnL w="12700" cap="flat" cmpd="sng" algn="ctr">
                      <a:solidFill>
                        <a:srgbClr val="122031"/>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1243A"/>
                    </a:solidFill>
                  </a:tcPr>
                </a:tc>
              </a:tr>
              <a:tr h="7721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Вложи 5 000 тг — получи 10 000 тг, перевод на Kaspi</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×2 уәде + Kaspi/карта</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Жоғары</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721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Приведи друга, гарантированный доход x2, куратор в лс</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кепілдік + реферал + куратор</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Жоғары</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054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Депозит 12%, лицензия АРРФР, возможны потери</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лицензия, тәуекел ескертуі</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Төмен</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054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Осторожно, пирамиды! Признаки пирамиды…</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пирамида туралы ескерту</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Төмен</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054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Продаю куртку, оплата Kaspi, самовывоз</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Kaspi + қарапайым сатылым</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Төмен</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7088"/>
                </a:solidFill>
                <a:latin typeface="Onest" pitchFamily="34" charset="0"/>
                <a:ea typeface="Onest" pitchFamily="34" charset="-122"/>
                <a:cs typeface="Onest" pitchFamily="34" charset="-120"/>
              </a:rPr>
              <a:t>StopPyramid KZ · SafeNet KZ</a:t>
            </a:r>
            <a:endParaRPr lang="en-US" sz="1200" dirty="0"/>
          </a:p>
        </p:txBody>
      </p:sp>
      <p:sp>
        <p:nvSpPr>
          <p:cNvPr id="5" name="Text 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7088"/>
                </a:solidFill>
                <a:latin typeface="Onest" pitchFamily="34" charset="0"/>
                <a:ea typeface="Onest" pitchFamily="34" charset="-122"/>
                <a:cs typeface="Onest"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24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6EEF7"/>
                </a:solidFill>
                <a:latin typeface="Onest" pitchFamily="34" charset="0"/>
                <a:ea typeface="Onest" pitchFamily="34" charset="-122"/>
                <a:cs typeface="Onest" pitchFamily="34" charset="-120"/>
              </a:rPr>
              <a:t>Граф және мультимодальдық: желіні көреміз</a:t>
            </a:r>
            <a:endParaRPr lang="en-US" sz="3600" dirty="0"/>
          </a:p>
        </p:txBody>
      </p:sp>
      <p:sp>
        <p:nvSpPr>
          <p:cNvPr id="3" name="Shape 1"/>
          <p:cNvSpPr/>
          <p:nvPr/>
        </p:nvSpPr>
        <p:spPr>
          <a:xfrm>
            <a:off x="815975" y="1623696"/>
            <a:ext cx="3380264" cy="2190750"/>
          </a:xfrm>
          <a:prstGeom prst="roundRect">
            <a:avLst>
              <a:gd name="adj" fmla="val 4493"/>
            </a:avLst>
          </a:prstGeom>
          <a:solidFill>
            <a:srgbClr val="1A3350"/>
          </a:solidFill>
          <a:ln w="6350">
            <a:solidFill>
              <a:srgbClr val="294059"/>
            </a:solidFill>
            <a:prstDash val="solid"/>
          </a:ln>
        </p:spPr>
      </p:sp>
      <p:sp>
        <p:nvSpPr>
          <p:cNvPr id="4" name="Text 2"/>
          <p:cNvSpPr/>
          <p:nvPr/>
        </p:nvSpPr>
        <p:spPr>
          <a:xfrm>
            <a:off x="1071880" y="1879600"/>
            <a:ext cx="2954507"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Ортақ карта = бір ұйымдастырушы</a:t>
            </a:r>
            <a:endParaRPr lang="en-US" sz="1800" dirty="0"/>
          </a:p>
        </p:txBody>
      </p:sp>
      <p:sp>
        <p:nvSpPr>
          <p:cNvPr id="5" name="Text 3"/>
          <p:cNvSpPr/>
          <p:nvPr/>
        </p:nvSpPr>
        <p:spPr>
          <a:xfrm>
            <a:off x="1071880" y="2529839"/>
            <a:ext cx="2954507"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Бірнеше топта қайталанатын карта мен нөмір топтарды бір желіге біріктіреді.</a:t>
            </a:r>
            <a:endParaRPr lang="en-US" sz="1500" dirty="0"/>
          </a:p>
        </p:txBody>
      </p:sp>
      <p:sp>
        <p:nvSpPr>
          <p:cNvPr id="6" name="Shape 4"/>
          <p:cNvSpPr/>
          <p:nvPr/>
        </p:nvSpPr>
        <p:spPr>
          <a:xfrm>
            <a:off x="4405789" y="1623696"/>
            <a:ext cx="3380343" cy="2190750"/>
          </a:xfrm>
          <a:prstGeom prst="roundRect">
            <a:avLst>
              <a:gd name="adj" fmla="val 4493"/>
            </a:avLst>
          </a:prstGeom>
          <a:solidFill>
            <a:srgbClr val="1A3350"/>
          </a:solidFill>
          <a:ln w="6350">
            <a:solidFill>
              <a:srgbClr val="294059"/>
            </a:solidFill>
            <a:prstDash val="solid"/>
          </a:ln>
        </p:spPr>
      </p:sp>
      <p:sp>
        <p:nvSpPr>
          <p:cNvPr id="7" name="Text 5"/>
          <p:cNvSpPr/>
          <p:nvPr/>
        </p:nvSpPr>
        <p:spPr>
          <a:xfrm>
            <a:off x="4661694" y="1879600"/>
            <a:ext cx="295458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Скриншот → OCR → скоринг</a:t>
            </a:r>
            <a:endParaRPr lang="en-US" sz="1800" dirty="0"/>
          </a:p>
        </p:txBody>
      </p:sp>
      <p:sp>
        <p:nvSpPr>
          <p:cNvPr id="8" name="Text 6"/>
          <p:cNvSpPr/>
          <p:nvPr/>
        </p:nvSpPr>
        <p:spPr>
          <a:xfrm>
            <a:off x="4661694" y="2529839"/>
            <a:ext cx="2954589"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Kaspi чегі мен «төлем» скриншоты мәтінге айналып, сол ережелерден өтеді. Өндірісте PaddleOCR.</a:t>
            </a:r>
            <a:endParaRPr lang="en-US" sz="1500" dirty="0"/>
          </a:p>
        </p:txBody>
      </p:sp>
      <p:sp>
        <p:nvSpPr>
          <p:cNvPr id="9" name="Shape 7"/>
          <p:cNvSpPr/>
          <p:nvPr/>
        </p:nvSpPr>
        <p:spPr>
          <a:xfrm>
            <a:off x="7995682" y="1623696"/>
            <a:ext cx="3380343" cy="2190750"/>
          </a:xfrm>
          <a:prstGeom prst="roundRect">
            <a:avLst>
              <a:gd name="adj" fmla="val 4493"/>
            </a:avLst>
          </a:prstGeom>
          <a:solidFill>
            <a:srgbClr val="1A3350"/>
          </a:solidFill>
          <a:ln w="6350">
            <a:solidFill>
              <a:srgbClr val="294059"/>
            </a:solidFill>
            <a:prstDash val="solid"/>
          </a:ln>
        </p:spPr>
      </p:sp>
      <p:sp>
        <p:nvSpPr>
          <p:cNvPr id="10" name="Text 8"/>
          <p:cNvSpPr/>
          <p:nvPr/>
        </p:nvSpPr>
        <p:spPr>
          <a:xfrm>
            <a:off x="8251587"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Эфир → транскрипция</a:t>
            </a:r>
            <a:endParaRPr lang="en-US" sz="1800" dirty="0"/>
          </a:p>
        </p:txBody>
      </p:sp>
      <p:sp>
        <p:nvSpPr>
          <p:cNvPr id="11" name="Text 9"/>
          <p:cNvSpPr/>
          <p:nvPr/>
        </p:nvSpPr>
        <p:spPr>
          <a:xfrm>
            <a:off x="8251587" y="2255521"/>
            <a:ext cx="2954589"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Тікелей эфир мәтіні (Whisper) сол жүйеге түседі. Қалыпты чек қате белгіленбейді.</a:t>
            </a:r>
            <a:endParaRPr lang="en-US" sz="1500" dirty="0"/>
          </a:p>
        </p:txBody>
      </p:sp>
      <p:sp>
        <p:nvSpPr>
          <p:cNvPr id="12" name="Text 10"/>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A2BA"/>
                </a:solidFill>
                <a:latin typeface="Onest" pitchFamily="34" charset="0"/>
                <a:ea typeface="Onest" pitchFamily="34" charset="-122"/>
                <a:cs typeface="Onest" pitchFamily="34" charset="-120"/>
              </a:rPr>
              <a:t>StopPyramid KZ · SafeNet KZ</a:t>
            </a:r>
            <a:endParaRPr lang="en-US" sz="1200" dirty="0"/>
          </a:p>
        </p:txBody>
      </p:sp>
      <p:sp>
        <p:nvSpPr>
          <p:cNvPr id="13" name="Text 1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A2BA"/>
                </a:solidFill>
                <a:latin typeface="Onest" pitchFamily="34" charset="0"/>
                <a:ea typeface="Onest" pitchFamily="34" charset="-122"/>
                <a:cs typeface="Onest"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1243A"/>
                </a:solidFill>
                <a:latin typeface="Onest" pitchFamily="34" charset="0"/>
                <a:ea typeface="Onest" pitchFamily="34" charset="-122"/>
                <a:cs typeface="Onest" pitchFamily="34" charset="-120"/>
              </a:rPr>
              <a:t>Метрикалар және абляция</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0" cy="2021840"/>
        </p:xfrm>
        <a:graphic>
          <a:graphicData uri="http://schemas.openxmlformats.org/drawingml/2006/table">
            <a:tbl>
              <a:tblPr/>
              <a:tblGrid>
                <a:gridCol w="4855870"/>
                <a:gridCol w="1900123"/>
                <a:gridCol w="1900123"/>
                <a:gridCol w="1900123"/>
              </a:tblGrid>
              <a:tr h="505460">
                <a:tc>
                  <a:txBody>
                    <a:bodyPr/>
                    <a:lstStyle/>
                    <a:p>
                      <a:pPr indent="0" marL="0">
                        <a:lnSpc>
                          <a:spcPts val="2100"/>
                        </a:lnSpc>
                        <a:buNone/>
                      </a:pPr>
                      <a:r>
                        <a:rPr lang="en-US" sz="1500" b="1" dirty="0">
                          <a:solidFill>
                            <a:srgbClr val="EEF3F6"/>
                          </a:solidFill>
                          <a:latin typeface="Onest" pitchFamily="34" charset="0"/>
                          <a:ea typeface="Onest" pitchFamily="34" charset="-122"/>
                          <a:cs typeface="Onest" pitchFamily="34" charset="-120"/>
                        </a:rPr>
                        <a:t>Нұсқа (шек 60%)</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1243A"/>
                    </a:solidFill>
                  </a:tcPr>
                </a:tc>
                <a:tc>
                  <a:txBody>
                    <a:bodyPr/>
                    <a:lstStyle/>
                    <a:p>
                      <a:pPr indent="0" marL="0">
                        <a:lnSpc>
                          <a:spcPts val="2100"/>
                        </a:lnSpc>
                        <a:buNone/>
                      </a:pPr>
                      <a:r>
                        <a:rPr lang="en-US" sz="1500" b="1" dirty="0">
                          <a:solidFill>
                            <a:srgbClr val="EEF3F6"/>
                          </a:solidFill>
                          <a:latin typeface="Onest" pitchFamily="34" charset="0"/>
                          <a:ea typeface="Onest" pitchFamily="34" charset="-122"/>
                          <a:cs typeface="Onest" pitchFamily="34" charset="-120"/>
                        </a:rPr>
                        <a:t>Precision</a:t>
                      </a:r>
                      <a:endParaRPr lang="en-US" sz="1500" dirty="0">
                        <a:latin typeface="Onest" charset="0"/>
                        <a:ea typeface="Onest" charset="0"/>
                        <a:cs typeface="Onest" charset="0"/>
                      </a:endParaRPr>
                    </a:p>
                  </a:txBody>
                  <a:tcPr marL="127000" marR="127000" marT="114300" marB="114300" anchor="t">
                    <a:lnL w="12700" cap="flat" cmpd="sng" algn="ctr">
                      <a:solidFill>
                        <a:srgbClr val="122031"/>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1243A"/>
                    </a:solidFill>
                  </a:tcPr>
                </a:tc>
                <a:tc>
                  <a:txBody>
                    <a:bodyPr/>
                    <a:lstStyle/>
                    <a:p>
                      <a:pPr indent="0" marL="0">
                        <a:lnSpc>
                          <a:spcPts val="2100"/>
                        </a:lnSpc>
                        <a:buNone/>
                      </a:pPr>
                      <a:r>
                        <a:rPr lang="en-US" sz="1500" b="1" dirty="0">
                          <a:solidFill>
                            <a:srgbClr val="EEF3F6"/>
                          </a:solidFill>
                          <a:latin typeface="Onest" pitchFamily="34" charset="0"/>
                          <a:ea typeface="Onest" pitchFamily="34" charset="-122"/>
                          <a:cs typeface="Onest" pitchFamily="34" charset="-120"/>
                        </a:rPr>
                        <a:t>Recall</a:t>
                      </a:r>
                      <a:endParaRPr lang="en-US" sz="1500" dirty="0">
                        <a:latin typeface="Onest" charset="0"/>
                        <a:ea typeface="Onest" charset="0"/>
                        <a:cs typeface="Onest" charset="0"/>
                      </a:endParaRPr>
                    </a:p>
                  </a:txBody>
                  <a:tcPr marL="127000" marR="127000" marT="114300" marB="114300" anchor="t">
                    <a:lnL w="12700" cap="flat" cmpd="sng" algn="ctr">
                      <a:solidFill>
                        <a:srgbClr val="122031"/>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1243A"/>
                    </a:solidFill>
                  </a:tcPr>
                </a:tc>
                <a:tc>
                  <a:txBody>
                    <a:bodyPr/>
                    <a:lstStyle/>
                    <a:p>
                      <a:pPr indent="0" marL="0">
                        <a:lnSpc>
                          <a:spcPts val="2100"/>
                        </a:lnSpc>
                        <a:buNone/>
                      </a:pPr>
                      <a:r>
                        <a:rPr lang="en-US" sz="1500" b="1" dirty="0">
                          <a:solidFill>
                            <a:srgbClr val="EEF3F6"/>
                          </a:solidFill>
                          <a:latin typeface="Onest" pitchFamily="34" charset="0"/>
                          <a:ea typeface="Onest" pitchFamily="34" charset="-122"/>
                          <a:cs typeface="Onest" pitchFamily="34" charset="-120"/>
                        </a:rPr>
                        <a:t>FPR</a:t>
                      </a:r>
                      <a:endParaRPr lang="en-US" sz="1500" dirty="0">
                        <a:latin typeface="Onest" charset="0"/>
                        <a:ea typeface="Onest" charset="0"/>
                        <a:cs typeface="Onest" charset="0"/>
                      </a:endParaRPr>
                    </a:p>
                  </a:txBody>
                  <a:tcPr marL="127000" marR="127000" marT="114300" marB="114300" anchor="t">
                    <a:lnL w="12700" cap="flat" cmpd="sng" algn="ctr">
                      <a:solidFill>
                        <a:srgbClr val="122031"/>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1243A"/>
                    </a:solidFill>
                  </a:tcPr>
                </a:tc>
              </a:tr>
              <a:tr h="5054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Тек хабарлама ережелері</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100%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50%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054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 топтық агрегация</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100%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50%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05460">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 шаблон және граф (толық жүйе)</a:t>
                      </a:r>
                      <a:endParaRPr lang="en-US" sz="1500" dirty="0">
                        <a:latin typeface="Onest" charset="0"/>
                        <a:ea typeface="Onest" charset="0"/>
                        <a:cs typeface="Onest" charset="0"/>
                      </a:endParaRPr>
                    </a:p>
                  </a:txBody>
                  <a:tcPr marL="127000" marR="127000" marT="114300" marB="114300" anchor="t">
                    <a:lnL w="12700" cap="flat" cmpd="sng" algn="ctr">
                      <a:solidFill>
                        <a:srgbClr val="BEC2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100%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79%</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1243A"/>
                          </a:solidFill>
                          <a:latin typeface="Onest" pitchFamily="34" charset="0"/>
                          <a:ea typeface="Onest" pitchFamily="34" charset="-122"/>
                          <a:cs typeface="Onest" pitchFamily="34" charset="-120"/>
                        </a:rPr>
                        <a:t>0%</a:t>
                      </a:r>
                      <a:endParaRPr lang="en-US" sz="1500" dirty="0">
                        <a:latin typeface="Onest" charset="0"/>
                        <a:ea typeface="Onest" charset="0"/>
                        <a:cs typeface="Onest" charset="0"/>
                      </a:endParaRPr>
                    </a:p>
                  </a:txBody>
                  <a:tcPr marL="127000" marR="1270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3957321"/>
            <a:ext cx="1088339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D7088"/>
                </a:solidFill>
                <a:latin typeface="Onest" pitchFamily="34" charset="0"/>
                <a:ea typeface="Onest" pitchFamily="34" charset="-122"/>
                <a:cs typeface="Onest" pitchFamily="34" charset="-120"/>
              </a:rPr>
              <a:t>60 синтетикалық топ (24 схема, 36 қарапайым, қиын негативтермен). Деректер синтетикалық: нақты ағында қайта калибрлейміз. Шек төмендесе, recall өседі, бірақ жалған іске қосылу да көбейеді.</a:t>
            </a:r>
            <a:endParaRPr lang="en-US" sz="1500" dirty="0"/>
          </a:p>
        </p:txBody>
      </p:sp>
      <p:sp>
        <p:nvSpPr>
          <p:cNvPr id="5" name="Text 2"/>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7088"/>
                </a:solidFill>
                <a:latin typeface="Onest" pitchFamily="34" charset="0"/>
                <a:ea typeface="Onest" pitchFamily="34" charset="-122"/>
                <a:cs typeface="Onest" pitchFamily="34" charset="-120"/>
              </a:rPr>
              <a:t>StopPyramid KZ · SafeNet KZ</a:t>
            </a:r>
            <a:endParaRPr lang="en-US" sz="1200" dirty="0"/>
          </a:p>
        </p:txBody>
      </p:sp>
      <p:sp>
        <p:nvSpPr>
          <p:cNvPr id="6"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7088"/>
                </a:solidFill>
                <a:latin typeface="Onest" pitchFamily="34" charset="0"/>
                <a:ea typeface="Onest" pitchFamily="34" charset="-122"/>
                <a:cs typeface="Onest"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24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6EEF7"/>
                </a:solidFill>
                <a:latin typeface="Onest" pitchFamily="34" charset="0"/>
                <a:ea typeface="Onest" pitchFamily="34" charset="-122"/>
                <a:cs typeface="Onest" pitchFamily="34" charset="-120"/>
              </a:rPr>
              <a:t>Масштаб және даму жоспары</a:t>
            </a:r>
            <a:endParaRPr lang="en-US" sz="3600" dirty="0"/>
          </a:p>
        </p:txBody>
      </p:sp>
      <p:sp>
        <p:nvSpPr>
          <p:cNvPr id="3" name="Shape 1"/>
          <p:cNvSpPr/>
          <p:nvPr/>
        </p:nvSpPr>
        <p:spPr>
          <a:xfrm>
            <a:off x="815975" y="1623696"/>
            <a:ext cx="3380264" cy="1402080"/>
          </a:xfrm>
          <a:prstGeom prst="roundRect">
            <a:avLst>
              <a:gd name="adj" fmla="val 7020"/>
            </a:avLst>
          </a:prstGeom>
          <a:solidFill>
            <a:srgbClr val="1A3350"/>
          </a:solidFill>
          <a:ln w="6350">
            <a:solidFill>
              <a:srgbClr val="294059"/>
            </a:solidFill>
            <a:prstDash val="solid"/>
          </a:ln>
        </p:spPr>
      </p:sp>
      <p:sp>
        <p:nvSpPr>
          <p:cNvPr id="4" name="Text 2"/>
          <p:cNvSpPr/>
          <p:nvPr/>
        </p:nvSpPr>
        <p:spPr>
          <a:xfrm>
            <a:off x="1071880" y="187960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1 ай</a:t>
            </a:r>
            <a:endParaRPr lang="en-US" sz="1800" dirty="0"/>
          </a:p>
        </p:txBody>
      </p:sp>
      <p:sp>
        <p:nvSpPr>
          <p:cNvPr id="5" name="Text 3"/>
          <p:cNvSpPr/>
          <p:nvPr/>
        </p:nvSpPr>
        <p:spPr>
          <a:xfrm>
            <a:off x="1071880" y="2255521"/>
            <a:ext cx="295450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Скриншотқа OCR (PaddleOCR), эфир транскрипциясы.</a:t>
            </a:r>
            <a:endParaRPr lang="en-US" sz="1500" dirty="0"/>
          </a:p>
        </p:txBody>
      </p:sp>
      <p:sp>
        <p:nvSpPr>
          <p:cNvPr id="6" name="Shape 4"/>
          <p:cNvSpPr/>
          <p:nvPr/>
        </p:nvSpPr>
        <p:spPr>
          <a:xfrm>
            <a:off x="4405789" y="1623696"/>
            <a:ext cx="3380343" cy="1402080"/>
          </a:xfrm>
          <a:prstGeom prst="roundRect">
            <a:avLst>
              <a:gd name="adj" fmla="val 7020"/>
            </a:avLst>
          </a:prstGeom>
          <a:solidFill>
            <a:srgbClr val="1A3350"/>
          </a:solidFill>
          <a:ln w="6350">
            <a:solidFill>
              <a:srgbClr val="294059"/>
            </a:solidFill>
            <a:prstDash val="solid"/>
          </a:ln>
        </p:spPr>
      </p:sp>
      <p:sp>
        <p:nvSpPr>
          <p:cNvPr id="7" name="Text 5"/>
          <p:cNvSpPr/>
          <p:nvPr/>
        </p:nvSpPr>
        <p:spPr>
          <a:xfrm>
            <a:off x="4661694"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3 ай</a:t>
            </a:r>
            <a:endParaRPr lang="en-US" sz="1800" dirty="0"/>
          </a:p>
        </p:txBody>
      </p:sp>
      <p:sp>
        <p:nvSpPr>
          <p:cNvPr id="8" name="Text 6"/>
          <p:cNvSpPr/>
          <p:nvPr/>
        </p:nvSpPr>
        <p:spPr>
          <a:xfrm>
            <a:off x="4661694" y="2255521"/>
            <a:ext cx="295458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Талдаушы белгілеуінде XLM-R-ді үйрету, active learning.</a:t>
            </a:r>
            <a:endParaRPr lang="en-US" sz="1500" dirty="0"/>
          </a:p>
        </p:txBody>
      </p:sp>
      <p:sp>
        <p:nvSpPr>
          <p:cNvPr id="9" name="Shape 7"/>
          <p:cNvSpPr/>
          <p:nvPr/>
        </p:nvSpPr>
        <p:spPr>
          <a:xfrm>
            <a:off x="7995682" y="1623696"/>
            <a:ext cx="3380343" cy="1402080"/>
          </a:xfrm>
          <a:prstGeom prst="roundRect">
            <a:avLst>
              <a:gd name="adj" fmla="val 7020"/>
            </a:avLst>
          </a:prstGeom>
          <a:solidFill>
            <a:srgbClr val="1A3350"/>
          </a:solidFill>
          <a:ln w="6350">
            <a:solidFill>
              <a:srgbClr val="294059"/>
            </a:solidFill>
            <a:prstDash val="solid"/>
          </a:ln>
        </p:spPr>
      </p:sp>
      <p:sp>
        <p:nvSpPr>
          <p:cNvPr id="10" name="Text 8"/>
          <p:cNvSpPr/>
          <p:nvPr/>
        </p:nvSpPr>
        <p:spPr>
          <a:xfrm>
            <a:off x="8251587"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6 ай</a:t>
            </a:r>
            <a:endParaRPr lang="en-US" sz="1800" dirty="0"/>
          </a:p>
        </p:txBody>
      </p:sp>
      <p:sp>
        <p:nvSpPr>
          <p:cNvPr id="11" name="Text 9"/>
          <p:cNvSpPr/>
          <p:nvPr/>
        </p:nvSpPr>
        <p:spPr>
          <a:xfrm>
            <a:off x="8251587" y="2255521"/>
            <a:ext cx="295458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Ведомстволарға API, рөлдік дашборд, шешімдер аудиті.</a:t>
            </a:r>
            <a:endParaRPr lang="en-US" sz="1500" dirty="0"/>
          </a:p>
        </p:txBody>
      </p:sp>
      <p:sp>
        <p:nvSpPr>
          <p:cNvPr id="12" name="Text 10"/>
          <p:cNvSpPr/>
          <p:nvPr/>
        </p:nvSpPr>
        <p:spPr>
          <a:xfrm>
            <a:off x="812800" y="3333750"/>
            <a:ext cx="10883392"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E6EEF7"/>
                </a:solidFill>
                <a:latin typeface="Onest" pitchFamily="34" charset="0"/>
                <a:ea typeface="Onest" pitchFamily="34" charset="-122"/>
                <a:cs typeface="Onest" pitchFamily="34" charset="-120"/>
              </a:rPr>
              <a:t>Скоринг күйсіз: кезек (Kafka) → воркерлер → қойма. Талдаушы тек ең қауіпті топтарды көреді. Заңдылықты адам шешеді.</a:t>
            </a:r>
            <a:endParaRPr lang="en-US" sz="1700" dirty="0"/>
          </a:p>
        </p:txBody>
      </p:sp>
      <p:sp>
        <p:nvSpPr>
          <p:cNvPr id="13" name="Text 1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A2BA"/>
                </a:solidFill>
                <a:latin typeface="Onest" pitchFamily="34" charset="0"/>
                <a:ea typeface="Onest" pitchFamily="34" charset="-122"/>
                <a:cs typeface="Onest" pitchFamily="34" charset="-120"/>
              </a:rPr>
              <a:t>StopPyramid KZ · SafeNet KZ</a:t>
            </a:r>
            <a:endParaRPr lang="en-US" sz="1200" dirty="0"/>
          </a:p>
        </p:txBody>
      </p:sp>
      <p:sp>
        <p:nvSpPr>
          <p:cNvPr id="14"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A2BA"/>
                </a:solidFill>
                <a:latin typeface="Onest" pitchFamily="34" charset="0"/>
                <a:ea typeface="Onest" pitchFamily="34" charset="-122"/>
                <a:cs typeface="Onest"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24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150" kern="0" dirty="0">
                <a:solidFill>
                  <a:srgbClr val="E6EEF7"/>
                </a:solidFill>
                <a:latin typeface="Onest" pitchFamily="34" charset="0"/>
                <a:ea typeface="Onest" pitchFamily="34" charset="-122"/>
                <a:cs typeface="Onest" pitchFamily="34" charset="-120"/>
              </a:rPr>
              <a:t>Рақмет!</a:t>
            </a:r>
            <a:endParaRPr lang="en-US" sz="8000" dirty="0"/>
          </a:p>
        </p:txBody>
      </p:sp>
      <p:sp>
        <p:nvSpPr>
          <p:cNvPr id="3" name="Text 1"/>
          <p:cNvSpPr/>
          <p:nvPr/>
        </p:nvSpPr>
        <p:spPr>
          <a:xfrm>
            <a:off x="812800" y="2133600"/>
            <a:ext cx="91567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6EEF7"/>
                </a:solidFill>
                <a:latin typeface="Onest" pitchFamily="34" charset="0"/>
                <a:ea typeface="Onest" pitchFamily="34" charset="-122"/>
                <a:cs typeface="Onest" pitchFamily="34" charset="-120"/>
              </a:rPr>
              <a:t>Жүйе үкім шығармайды: ол белгілерді табады, себебін түсіндіреді, шешімді адам қабылдайды.</a:t>
            </a:r>
            <a:endParaRPr lang="en-US" sz="2200" dirty="0"/>
          </a:p>
        </p:txBody>
      </p:sp>
      <p:sp>
        <p:nvSpPr>
          <p:cNvPr id="4" name="Shape 2"/>
          <p:cNvSpPr/>
          <p:nvPr/>
        </p:nvSpPr>
        <p:spPr>
          <a:xfrm>
            <a:off x="815975" y="3168014"/>
            <a:ext cx="3380264" cy="1402080"/>
          </a:xfrm>
          <a:prstGeom prst="roundRect">
            <a:avLst>
              <a:gd name="adj" fmla="val 7020"/>
            </a:avLst>
          </a:prstGeom>
          <a:solidFill>
            <a:srgbClr val="1A3350"/>
          </a:solidFill>
          <a:ln w="6350">
            <a:solidFill>
              <a:srgbClr val="294059"/>
            </a:solidFill>
            <a:prstDash val="solid"/>
          </a:ln>
        </p:spPr>
      </p:sp>
      <p:sp>
        <p:nvSpPr>
          <p:cNvPr id="5" name="Text 3"/>
          <p:cNvSpPr/>
          <p:nvPr/>
        </p:nvSpPr>
        <p:spPr>
          <a:xfrm>
            <a:off x="1071880" y="3423921"/>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Түсіндірмелі</a:t>
            </a:r>
            <a:endParaRPr lang="en-US" sz="1800" dirty="0"/>
          </a:p>
        </p:txBody>
      </p:sp>
      <p:sp>
        <p:nvSpPr>
          <p:cNvPr id="6" name="Text 4"/>
          <p:cNvSpPr/>
          <p:nvPr/>
        </p:nvSpPr>
        <p:spPr>
          <a:xfrm>
            <a:off x="1071880" y="3799839"/>
            <a:ext cx="295450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Әр балл түспен және себебімен көрінеді.</a:t>
            </a:r>
            <a:endParaRPr lang="en-US" sz="1500" dirty="0"/>
          </a:p>
        </p:txBody>
      </p:sp>
      <p:sp>
        <p:nvSpPr>
          <p:cNvPr id="7" name="Shape 5"/>
          <p:cNvSpPr/>
          <p:nvPr/>
        </p:nvSpPr>
        <p:spPr>
          <a:xfrm>
            <a:off x="4405789" y="3168014"/>
            <a:ext cx="3380343" cy="1402080"/>
          </a:xfrm>
          <a:prstGeom prst="roundRect">
            <a:avLst>
              <a:gd name="adj" fmla="val 7020"/>
            </a:avLst>
          </a:prstGeom>
          <a:solidFill>
            <a:srgbClr val="1A3350"/>
          </a:solidFill>
          <a:ln w="6350">
            <a:solidFill>
              <a:srgbClr val="294059"/>
            </a:solidFill>
            <a:prstDash val="solid"/>
          </a:ln>
        </p:spPr>
      </p:sp>
      <p:sp>
        <p:nvSpPr>
          <p:cNvPr id="8" name="Text 6"/>
          <p:cNvSpPr/>
          <p:nvPr/>
        </p:nvSpPr>
        <p:spPr>
          <a:xfrm>
            <a:off x="4661694" y="3423921"/>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Желіні көреді</a:t>
            </a:r>
            <a:endParaRPr lang="en-US" sz="1800" dirty="0"/>
          </a:p>
        </p:txBody>
      </p:sp>
      <p:sp>
        <p:nvSpPr>
          <p:cNvPr id="9" name="Text 7"/>
          <p:cNvSpPr/>
          <p:nvPr/>
        </p:nvSpPr>
        <p:spPr>
          <a:xfrm>
            <a:off x="4661694" y="3799839"/>
            <a:ext cx="295458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Ортақ карталар арқылы топтарды біріктіреді.</a:t>
            </a:r>
            <a:endParaRPr lang="en-US" sz="1500" dirty="0"/>
          </a:p>
        </p:txBody>
      </p:sp>
      <p:sp>
        <p:nvSpPr>
          <p:cNvPr id="10" name="Shape 8"/>
          <p:cNvSpPr/>
          <p:nvPr/>
        </p:nvSpPr>
        <p:spPr>
          <a:xfrm>
            <a:off x="7995682" y="3168014"/>
            <a:ext cx="3380343" cy="1402080"/>
          </a:xfrm>
          <a:prstGeom prst="roundRect">
            <a:avLst>
              <a:gd name="adj" fmla="val 7020"/>
            </a:avLst>
          </a:prstGeom>
          <a:solidFill>
            <a:srgbClr val="1A3350"/>
          </a:solidFill>
          <a:ln w="6350">
            <a:solidFill>
              <a:srgbClr val="294059"/>
            </a:solidFill>
            <a:prstDash val="solid"/>
          </a:ln>
        </p:spPr>
      </p:sp>
      <p:sp>
        <p:nvSpPr>
          <p:cNvPr id="11" name="Text 9"/>
          <p:cNvSpPr/>
          <p:nvPr/>
        </p:nvSpPr>
        <p:spPr>
          <a:xfrm>
            <a:off x="8251587" y="3423921"/>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7"/>
                </a:solidFill>
                <a:latin typeface="Onest" pitchFamily="34" charset="0"/>
                <a:ea typeface="Onest" pitchFamily="34" charset="-122"/>
                <a:cs typeface="Onest" pitchFamily="34" charset="-120"/>
              </a:rPr>
              <a:t>Тез кеңейеді</a:t>
            </a:r>
            <a:endParaRPr lang="en-US" sz="1800" dirty="0"/>
          </a:p>
        </p:txBody>
      </p:sp>
      <p:sp>
        <p:nvSpPr>
          <p:cNvPr id="12" name="Text 10"/>
          <p:cNvSpPr/>
          <p:nvPr/>
        </p:nvSpPr>
        <p:spPr>
          <a:xfrm>
            <a:off x="8251587" y="3799839"/>
            <a:ext cx="295458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EF7"/>
                </a:solidFill>
                <a:latin typeface="Onest" pitchFamily="34" charset="0"/>
                <a:ea typeface="Onest" pitchFamily="34" charset="-122"/>
                <a:cs typeface="Onest" pitchFamily="34" charset="-120"/>
              </a:rPr>
              <a:t>Күйсіз скоринг, кезек және воркерлер.</a:t>
            </a:r>
            <a:endParaRPr lang="en-US" sz="15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A2BA"/>
                </a:solidFill>
                <a:latin typeface="Onest" pitchFamily="34" charset="0"/>
                <a:ea typeface="Onest" pitchFamily="34" charset="-122"/>
                <a:cs typeface="Onest" pitchFamily="34" charset="-120"/>
              </a:rPr>
              <a:t>Команда: [команда атауы] · Сұрақтарға дайынбыз</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A2BA"/>
                </a:solidFill>
                <a:latin typeface="Onest" pitchFamily="34" charset="0"/>
                <a:ea typeface="Onest" pitchFamily="34" charset="-122"/>
                <a:cs typeface="Onest" pitchFamily="34" charset="-120"/>
              </a:rPr>
              <a:t>8</a:t>
            </a:r>
            <a:endParaRPr lang="en-US" sz="1200" dirty="0"/>
          </a:p>
        </p:txBody>
      </p:sp>
    </p:spTree>
  </p:cSld>
  <p:clrMapOvr>
    <a:masterClrMapping/>
  </p:clrMapOvr>
</p:sld>
</file>

<file path=ppt/theme/theme1.xml><?xml version="1.0" encoding="utf-8"?>
<a:theme xmlns:a="http://schemas.openxmlformats.org/drawingml/2006/main" name="StopPyramid KZ — SafeNet KZ питч">
  <a:themeElements>
    <a:clrScheme name="StopPyramid KZ — SafeNet KZ питч">
      <a:dk1>
        <a:srgbClr val="11243A"/>
      </a:dk1>
      <a:lt1>
        <a:srgbClr val="E6EEF7"/>
      </a:lt1>
      <a:dk2>
        <a:srgbClr val="26384D"/>
      </a:dk2>
      <a:lt2>
        <a:srgbClr val="B1BCC8"/>
      </a:lt2>
      <a:accent1>
        <a:srgbClr val="5D7088"/>
      </a:accent1>
      <a:accent2>
        <a:srgbClr val="8DA2BA"/>
      </a:accent2>
      <a:accent3>
        <a:srgbClr val="E8B100"/>
      </a:accent3>
      <a:accent4>
        <a:srgbClr val="8A6A00"/>
      </a:accent4>
      <a:accent5>
        <a:srgbClr val="9AA0A6"/>
      </a:accent5>
      <a:accent6>
        <a:srgbClr val="919DAB"/>
      </a:accent6>
      <a:hlink>
        <a:srgbClr val="0563C1"/>
      </a:hlink>
      <a:folHlink>
        <a:srgbClr val="954F72"/>
      </a:folHlink>
    </a:clrScheme>
    <a:fontScheme name="StopPyramid KZ — SafeNet KZ питч">
      <a:majorFont>
        <a:latin typeface="One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ne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StopPyramid KZ — SafeNet KZ питч</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Onest
Copyright 2021 The Onest Project Authors (https://github.com/googlefonts/onest)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2026-10-24T20:57:19Z</dcterms:created>
  <dcterms:modified xsi:type="dcterms:W3CDTF">2026-10-24T20:57:19Z</dcterms:modified>
</cp:coreProperties>
</file>